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  <p:sldId id="262" r:id="rId6"/>
    <p:sldId id="263" r:id="rId7"/>
    <p:sldId id="265" r:id="rId8"/>
    <p:sldId id="266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 algn="ctr">
              <a:defRPr sz="1400" b="1">
                <a:solidFill>
                  <a:srgbClr val="E8ECF1"/>
                </a:solidFill>
              </a:defRPr>
            </a:pPr>
            <a:r>
              <a:rPr lang="fr-FR" sz="1400" b="1" dirty="0">
                <a:solidFill>
                  <a:srgbClr val="E8ECF1"/>
                </a:solidFill>
              </a:rPr>
              <a:t>Codes HTTP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v>HTTP</c:v>
          </c:tx>
          <c:dPt>
            <c:idx val="0"/>
            <c:bubble3D val="0"/>
            <c:spPr>
              <a:solidFill>
                <a:srgbClr val="00D4AA"/>
              </a:solidFill>
            </c:spPr>
            <c:extLst>
              <c:ext xmlns:c16="http://schemas.microsoft.com/office/drawing/2014/chart" uri="{C3380CC4-5D6E-409C-BE32-E72D297353CC}">
                <c16:uniqueId val="{00000001-A422-4065-B1A0-235BDE6E4A9E}"/>
              </c:ext>
            </c:extLst>
          </c:dPt>
          <c:dPt>
            <c:idx val="1"/>
            <c:bubble3D val="0"/>
            <c:spPr>
              <a:solidFill>
                <a:srgbClr val="3742FA"/>
              </a:solidFill>
            </c:spPr>
            <c:extLst>
              <c:ext xmlns:c16="http://schemas.microsoft.com/office/drawing/2014/chart" uri="{C3380CC4-5D6E-409C-BE32-E72D297353CC}">
                <c16:uniqueId val="{00000003-A422-4065-B1A0-235BDE6E4A9E}"/>
              </c:ext>
            </c:extLst>
          </c:dPt>
          <c:dPt>
            <c:idx val="2"/>
            <c:bubble3D val="0"/>
            <c:spPr>
              <a:solidFill>
                <a:srgbClr val="70A1FF"/>
              </a:solidFill>
            </c:spPr>
            <c:extLst>
              <c:ext xmlns:c16="http://schemas.microsoft.com/office/drawing/2014/chart" uri="{C3380CC4-5D6E-409C-BE32-E72D297353CC}">
                <c16:uniqueId val="{00000005-A422-4065-B1A0-235BDE6E4A9E}"/>
              </c:ext>
            </c:extLst>
          </c:dPt>
          <c:dPt>
            <c:idx val="3"/>
            <c:bubble3D val="0"/>
            <c:spPr>
              <a:solidFill>
                <a:srgbClr val="FFA502"/>
              </a:solidFill>
            </c:spPr>
            <c:extLst>
              <c:ext xmlns:c16="http://schemas.microsoft.com/office/drawing/2014/chart" uri="{C3380CC4-5D6E-409C-BE32-E72D297353CC}">
                <c16:uniqueId val="{00000007-A422-4065-B1A0-235BDE6E4A9E}"/>
              </c:ext>
            </c:extLst>
          </c:dPt>
          <c:dPt>
            <c:idx val="4"/>
            <c:bubble3D val="0"/>
            <c:spPr>
              <a:solidFill>
                <a:srgbClr val="FF6348"/>
              </a:solidFill>
            </c:spPr>
            <c:extLst>
              <c:ext xmlns:c16="http://schemas.microsoft.com/office/drawing/2014/chart" uri="{C3380CC4-5D6E-409C-BE32-E72D297353CC}">
                <c16:uniqueId val="{00000009-A422-4065-B1A0-235BDE6E4A9E}"/>
              </c:ext>
            </c:extLst>
          </c:dPt>
          <c:dPt>
            <c:idx val="5"/>
            <c:bubble3D val="0"/>
            <c:spPr>
              <a:solidFill>
                <a:srgbClr val="FF4757"/>
              </a:solidFill>
            </c:spPr>
            <c:extLst>
              <c:ext xmlns:c16="http://schemas.microsoft.com/office/drawing/2014/chart" uri="{C3380CC4-5D6E-409C-BE32-E72D297353CC}">
                <c16:uniqueId val="{0000000B-A422-4065-B1A0-235BDE6E4A9E}"/>
              </c:ext>
            </c:extLst>
          </c:dPt>
          <c:dPt>
            <c:idx val="6"/>
            <c:bubble3D val="0"/>
            <c:spPr>
              <a:solidFill>
                <a:srgbClr val="A02B93"/>
              </a:solidFill>
            </c:spPr>
            <c:extLst>
              <c:ext xmlns:c16="http://schemas.microsoft.com/office/drawing/2014/chart" uri="{C3380CC4-5D6E-409C-BE32-E72D297353CC}">
                <c16:uniqueId val="{0000000D-A422-4065-B1A0-235BDE6E4A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A0B4C8"/>
                    </a:solidFill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7"/>
              <c:pt idx="0">
                <c:v>200</c:v>
              </c:pt>
              <c:pt idx="1">
                <c:v>301</c:v>
              </c:pt>
              <c:pt idx="2">
                <c:v>304</c:v>
              </c:pt>
              <c:pt idx="3">
                <c:v>401</c:v>
              </c:pt>
              <c:pt idx="4">
                <c:v>403</c:v>
              </c:pt>
              <c:pt idx="5">
                <c:v>404</c:v>
              </c:pt>
              <c:pt idx="6">
                <c:v>500</c:v>
              </c:pt>
            </c:strLit>
          </c:cat>
          <c:val>
            <c:numLit>
              <c:formatCode>General</c:formatCode>
              <c:ptCount val="7"/>
              <c:pt idx="0">
                <c:v>6134</c:v>
              </c:pt>
              <c:pt idx="1">
                <c:v>1375</c:v>
              </c:pt>
              <c:pt idx="2">
                <c:v>1394</c:v>
              </c:pt>
              <c:pt idx="3">
                <c:v>61</c:v>
              </c:pt>
              <c:pt idx="4">
                <c:v>26</c:v>
              </c:pt>
              <c:pt idx="5">
                <c:v>1461</c:v>
              </c:pt>
              <c:pt idx="6">
                <c:v>743</c:v>
              </c:pt>
            </c:numLit>
          </c:val>
          <c:extLst>
            <c:ext xmlns:c16="http://schemas.microsoft.com/office/drawing/2014/chart" uri="{C3380CC4-5D6E-409C-BE32-E72D297353CC}">
              <c16:uniqueId val="{0000000E-A422-4065-B1A0-235BDE6E4A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t"/>
      <c:overlay val="0"/>
      <c:txPr>
        <a:bodyPr/>
        <a:lstStyle/>
        <a:p>
          <a:pPr>
            <a:defRPr sz="1000">
              <a:solidFill>
                <a:srgbClr val="A0B4C8"/>
              </a:solidFill>
            </a:defRPr>
          </a:pPr>
          <a:endParaRPr lang="fr-F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899916-7475-4E3A-2020-5C1A88BDD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BA33FE-A851-B6B1-7CA5-393F3398F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9E834C-5C39-6768-6EE7-12E075C0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8788CE-9808-DFAF-BCC7-578E8BDE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16CF8-C210-3C4B-EB14-31695E06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64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108714-BA80-B784-36EF-7926A04C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22812D-18B8-8189-2A54-F75007BD7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585937-EC75-7176-43C9-700D7693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33E47F-6297-309F-EA35-28F300643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59FD90-3FB6-A08C-1490-FDF965E0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488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CA572-F627-6A9D-9810-A7D24B42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2B1A44-3773-2547-2A8A-B904ADC26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CC1024-E8B9-ECFB-D748-8089C5BF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CC5CD9-50EB-A6FA-B4FB-11EC7EC3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6F95D9-8BF8-54CA-4019-69DD290E8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48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88605-C1DA-5D33-C979-1735EB85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E7084E-18F4-CA0B-8DF8-8A1353FA2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E6A7CF-588B-3D14-665A-090EA90BE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F2F0B9-C23C-4F39-2F15-4FD2B8B29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D1C513-6FCB-412C-1664-6F3D0637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38568A-5C0B-5F1A-1375-FF618195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90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691F5-7D5D-504A-3336-B63CEA88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75B254-3780-EEFF-6ED2-92D8C0183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E2537C-68D8-32A1-165B-DA7F43140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EE641ED-B6DD-ED64-19F4-BBF44FD63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5FCA971-148B-4C80-078C-760004F48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0841A1-4840-BCE5-A2B4-60F8D591B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C85F114-965E-A532-CB75-97929F947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FD91BA9-6831-17B9-F620-0BB85B93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83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04E20-0CF8-F1C0-A4BD-3E67DA92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98F455-3A05-0163-54BD-7FE8E906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46A815-E47D-618F-540E-9E8822A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47229C-E53E-3D52-7CB6-644F7A31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881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62DB08A-21E2-F3C0-75FF-60EE61C0A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57BBE85-080E-76A0-4E38-A6DFC788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18BDD2-C25E-1B1E-B099-150B4F9A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64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B33E09-DE65-53D3-69C1-A4C0EB40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9B2CB7-621B-9BBA-5039-EB4799CA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D7AAC9-6DC4-F5E8-3874-13FCC3156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369599-AF90-B001-90CF-D62E2D44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F86C0-191C-A251-994D-68E98E185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85A152-73EB-5D9E-B1FD-6F18B639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30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EB196B-8F57-DC48-8F50-1C6126EE7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A76DA26-E853-2002-D2AB-DDB91532B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1CD866-9BD8-5330-9B1B-E192725A0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C93503-F3F2-1F17-9254-70C5A98A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E9D4D6-6EAE-3397-0DD4-16A9298B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2167E6-21AF-1F4E-A982-11FF4ADE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3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1BC047-34EC-CF62-9E9D-1ED0C076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51D573-6213-0071-3A8E-99BF85E5B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A31FB5-5677-9170-0659-1636AC93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2DFBB4-1B75-3845-9937-0D651BD6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BC91E6-B05D-EF0D-4B42-777FC6AF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22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ED62386-4E8D-03F7-CF08-DF50E15D8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E1EF497-0FBE-1081-E8DC-D376C3B84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8EAABC-C717-F23A-D2DB-D43A644AE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2FBB1E-6B34-98F1-65A7-395AC0AE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E160BD-D7F8-AD13-15E7-118B46D9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49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120"/>
            </a:gs>
            <a:gs pos="60000">
              <a:srgbClr val="0F1A2E"/>
            </a:gs>
            <a:gs pos="100000">
              <a:srgbClr val="0B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BEA0F5D-2F73-16FB-F8A6-B1A70ED2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85B350-B5C4-77D7-00E7-F602E0C15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32CF88-32E5-95C9-2BE3-5205DD79A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38DE7-012A-4962-A0D2-65DA1EE3064A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695403-0950-D01C-63DC-CAB69F615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6F58D0-BFD1-A07A-70F5-71BEC7D9E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26E46-BFB5-4DAB-9A8A-3071BB590A07}" type="slidenum">
              <a:rPr lang="fr-FR" smtClean="0"/>
              <a:t>‹#›</a:t>
            </a:fld>
            <a:endParaRPr lang="fr-FR"/>
          </a:p>
        </p:txBody>
      </p:sp>
      <p:sp>
        <p:nvSpPr>
          <p:cNvPr id="900" name="AccentLine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gradFill>
            <a:gsLst>
              <a:gs pos="0">
                <a:srgbClr val="00D4AA">
                  <a:alpha val="0"/>
                </a:srgbClr>
              </a:gs>
              <a:gs pos="50000">
                <a:srgbClr val="00D4AA">
                  <a:alpha val="40000"/>
                </a:srgbClr>
              </a:gs>
              <a:gs pos="100000">
                <a:srgbClr val="3742FA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1" name="TopAccent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84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ECF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A0B4C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A0B4C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A0B4C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0B4C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0B4C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0B4C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0B4C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0B4C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A0B4C8"/>
          </a:solidFill>
          <a:latin typeface="+mn-lt"/>
          <a:ea typeface="+mn-ea"/>
          <a:cs typeface="+mn-cs"/>
        </a:defRPr>
      </a:lvl9pPr>
    </p:bodyStyle>
    <p:otherStyle>
      <a:defPPr>
        <a:defRPr lang="fr-FR">
          <a:solidFill>
            <a:srgbClr val="A0B4C8"/>
          </a:solidFill>
        </a:defRPr>
      </a:defPPr>
      <a:lvl1pPr marL="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A0B4C8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F4FD4B-EEDB-2017-4A6E-68BE56E9D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fr-FR" sz="4400" b="1" dirty="0">
                <a:solidFill>
                  <a:srgbClr val="00D4AA"/>
                </a:solidFill>
              </a:rPr>
              <a:t>NETSENTINEL v1.0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14DC1E1-F97A-9C83-1632-2E019E683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fr-FR" sz="2000" dirty="0">
                <a:solidFill>
                  <a:srgbClr val="A0B4C8"/>
                </a:solidFill>
              </a:rPr>
              <a:t>Analyseur de logs réseau &amp; détecteur d’intrusion</a:t>
            </a:r>
          </a:p>
          <a:p>
            <a:pPr algn="ctr">
              <a:buNone/>
            </a:pPr>
            <a:r>
              <a:rPr lang="fr-FR" sz="1400" dirty="0">
                <a:solidFill>
                  <a:srgbClr val="607890"/>
                </a:solidFill>
              </a:rPr>
              <a:t>Rapport d’analyse de sécurité — 16 mars 2025</a:t>
            </a:r>
          </a:p>
        </p:txBody>
      </p:sp>
      <p:pic>
        <p:nvPicPr>
          <p:cNvPr id="4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8000" y="635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8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F454B-33A1-5D70-59E3-565BE7D7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500"/>
            <a:ext cx="11277600" cy="571500"/>
          </a:xfrm>
        </p:spPr>
        <p:txBody>
          <a:bodyPr>
            <a:normAutofit/>
          </a:bodyPr>
          <a:lstStyle/>
          <a:p>
            <a:r>
              <a:rPr lang="fr-FR" sz="3200" b="1"/>
              <a:t>Dashboard Statistiques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CE34F37-9B6B-4F07-B2B9-B0921D13A013}"/>
              </a:ext>
            </a:extLst>
          </p:cNvPr>
          <p:cNvSpPr/>
          <p:nvPr/>
        </p:nvSpPr>
        <p:spPr>
          <a:xfrm>
            <a:off x="635000" y="952500"/>
            <a:ext cx="2476500" cy="10160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D69C96-7767-4DBA-9273-C63EB1563209}"/>
              </a:ext>
            </a:extLst>
          </p:cNvPr>
          <p:cNvSpPr txBox="1"/>
          <p:nvPr/>
        </p:nvSpPr>
        <p:spPr>
          <a:xfrm>
            <a:off x="762000" y="1079500"/>
            <a:ext cx="2222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00D4AA"/>
                </a:solidFill>
              </a:rPr>
              <a:t>11 194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168930-8933-4A41-BBFD-5C67457C962B}"/>
              </a:ext>
            </a:extLst>
          </p:cNvPr>
          <p:cNvSpPr txBox="1"/>
          <p:nvPr/>
        </p:nvSpPr>
        <p:spPr>
          <a:xfrm>
            <a:off x="762000" y="1536700"/>
            <a:ext cx="2222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A0B4C8"/>
                </a:solidFill>
              </a:rPr>
              <a:t>Requêtes analysées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F9EBB72-BA75-4530-B745-25A9ADE1A4A9}"/>
              </a:ext>
            </a:extLst>
          </p:cNvPr>
          <p:cNvSpPr/>
          <p:nvPr/>
        </p:nvSpPr>
        <p:spPr>
          <a:xfrm>
            <a:off x="3492500" y="952500"/>
            <a:ext cx="2476500" cy="10160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3742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776939-7388-4016-8AFB-88D558459974}"/>
              </a:ext>
            </a:extLst>
          </p:cNvPr>
          <p:cNvSpPr txBox="1"/>
          <p:nvPr/>
        </p:nvSpPr>
        <p:spPr>
          <a:xfrm>
            <a:off x="3619500" y="1079500"/>
            <a:ext cx="2222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3742FA"/>
                </a:solidFill>
              </a:rPr>
              <a:t>1 200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72FE0A9-5EA6-4F2B-A174-F1DF07D12888}"/>
              </a:ext>
            </a:extLst>
          </p:cNvPr>
          <p:cNvSpPr txBox="1"/>
          <p:nvPr/>
        </p:nvSpPr>
        <p:spPr>
          <a:xfrm>
            <a:off x="3619500" y="1536700"/>
            <a:ext cx="2222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A0B4C8"/>
                </a:solidFill>
              </a:rPr>
              <a:t>IP la plus active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8992F1F-3355-43B3-9CF0-5B207C6D77F6}"/>
              </a:ext>
            </a:extLst>
          </p:cNvPr>
          <p:cNvSpPr/>
          <p:nvPr/>
        </p:nvSpPr>
        <p:spPr>
          <a:xfrm>
            <a:off x="6350000" y="952500"/>
            <a:ext cx="2476500" cy="10160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2ED57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5C9483A-1CF3-4867-96E6-D441BCB1C3AE}"/>
              </a:ext>
            </a:extLst>
          </p:cNvPr>
          <p:cNvSpPr txBox="1"/>
          <p:nvPr/>
        </p:nvSpPr>
        <p:spPr>
          <a:xfrm>
            <a:off x="6477000" y="1079500"/>
            <a:ext cx="2222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200" b="1">
                <a:solidFill>
                  <a:srgbClr val="2ED573"/>
                </a:solidFill>
              </a:rPr>
              <a:t>54,8%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C5C36D5-8290-48B4-A866-4ABC4D0150AB}"/>
              </a:ext>
            </a:extLst>
          </p:cNvPr>
          <p:cNvSpPr txBox="1"/>
          <p:nvPr/>
        </p:nvSpPr>
        <p:spPr>
          <a:xfrm>
            <a:off x="6477000" y="1536700"/>
            <a:ext cx="2222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A0B4C8"/>
                </a:solidFill>
              </a:rPr>
              <a:t>Taux de succès (2xx)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3E528DF-36DC-4AC7-9F50-08C4AA02D1F5}"/>
              </a:ext>
            </a:extLst>
          </p:cNvPr>
          <p:cNvSpPr/>
          <p:nvPr/>
        </p:nvSpPr>
        <p:spPr>
          <a:xfrm>
            <a:off x="9207500" y="952500"/>
            <a:ext cx="2476500" cy="10160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FF4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23FAD7F-8F53-4EAD-B22D-DD07BB0F678D}"/>
              </a:ext>
            </a:extLst>
          </p:cNvPr>
          <p:cNvSpPr txBox="1"/>
          <p:nvPr/>
        </p:nvSpPr>
        <p:spPr>
          <a:xfrm>
            <a:off x="9334500" y="1079500"/>
            <a:ext cx="2222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FF4757"/>
                </a:solidFill>
              </a:rPr>
              <a:t>6,6%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36F7320-5350-4723-9076-CD31187A6783}"/>
              </a:ext>
            </a:extLst>
          </p:cNvPr>
          <p:cNvSpPr txBox="1"/>
          <p:nvPr/>
        </p:nvSpPr>
        <p:spPr>
          <a:xfrm>
            <a:off x="9334500" y="1536700"/>
            <a:ext cx="2222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A0B4C8"/>
                </a:solidFill>
              </a:rPr>
              <a:t>Erreurs serveur (5xx)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457200" y="22860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TopIPs"/>
          <p:cNvSpPr txBox="1"/>
          <p:nvPr/>
        </p:nvSpPr>
        <p:spPr>
          <a:xfrm>
            <a:off x="6248400" y="2286000"/>
            <a:ext cx="5486400" cy="4114800"/>
          </a:xfrm>
          <a:prstGeom prst="roundRect">
            <a:avLst>
              <a:gd name="adj" fmla="val 3000"/>
            </a:avLst>
          </a:prstGeom>
          <a:solidFill>
            <a:srgbClr val="131B2E"/>
          </a:solidFill>
          <a:ln w="12700">
            <a:solidFill>
              <a:srgbClr val="1E2A40"/>
            </a:solidFill>
          </a:ln>
        </p:spPr>
        <p:txBody>
          <a:bodyPr wrap="square" lIns="137160" tIns="91440" rIns="91440" bIns="45720"/>
          <a:lstStyle/>
          <a:p>
            <a:pPr algn="l">
              <a:buNone/>
            </a:pPr>
            <a:r>
              <a:rPr lang="fr-FR" sz="1600" b="1" dirty="0">
                <a:solidFill>
                  <a:srgbClr val="00D4AA"/>
                </a:solidFill>
              </a:rPr>
              <a:t>Top 5 IPs les plus actives</a:t>
            </a:r>
          </a:p>
          <a:p>
            <a:pPr algn="l">
              <a:spcBef>
                <a:spcPts val="400"/>
              </a:spcBef>
              <a:buNone/>
            </a:pPr>
            <a:r>
              <a:rPr lang="fr-FR" sz="1400" b="1" dirty="0">
                <a:solidFill>
                  <a:srgbClr val="FF4757"/>
                </a:solidFill>
              </a:rPr>
              <a:t>103.21.244.0</a:t>
            </a:r>
            <a:r>
              <a:rPr lang="fr-FR" sz="1400" dirty="0">
                <a:solidFill>
                  <a:srgbClr val="A0B4C8"/>
                </a:solidFill>
              </a:rPr>
              <a:t>    1 200 req</a:t>
            </a:r>
          </a:p>
          <a:p>
            <a:pPr algn="l">
              <a:spcBef>
                <a:spcPts val="400"/>
              </a:spcBef>
              <a:buNone/>
            </a:pPr>
            <a:r>
              <a:rPr lang="fr-FR" sz="1400" dirty="0">
                <a:solidFill>
                  <a:srgbClr val="E8ECF1"/>
                </a:solidFill>
              </a:rPr>
              <a:t>10.0.0.121</a:t>
            </a:r>
            <a:r>
              <a:rPr lang="fr-FR" sz="1400" dirty="0">
                <a:solidFill>
                  <a:srgbClr val="A0B4C8"/>
                </a:solidFill>
              </a:rPr>
              <a:t>           81 req</a:t>
            </a:r>
          </a:p>
          <a:p>
            <a:pPr algn="l">
              <a:spcBef>
                <a:spcPts val="400"/>
              </a:spcBef>
              <a:buNone/>
            </a:pPr>
            <a:r>
              <a:rPr lang="fr-FR" sz="1400" dirty="0">
                <a:solidFill>
                  <a:srgbClr val="E8ECF1"/>
                </a:solidFill>
              </a:rPr>
              <a:t>172.16.4.17</a:t>
            </a:r>
            <a:r>
              <a:rPr lang="fr-FR" sz="1400" dirty="0">
                <a:solidFill>
                  <a:srgbClr val="A0B4C8"/>
                </a:solidFill>
              </a:rPr>
              <a:t>         76 req</a:t>
            </a:r>
          </a:p>
          <a:p>
            <a:pPr algn="l">
              <a:spcBef>
                <a:spcPts val="400"/>
              </a:spcBef>
              <a:buNone/>
            </a:pPr>
            <a:r>
              <a:rPr lang="fr-FR" sz="1400" dirty="0">
                <a:solidFill>
                  <a:srgbClr val="E8ECF1"/>
                </a:solidFill>
              </a:rPr>
              <a:t>192.168.0.77</a:t>
            </a:r>
            <a:r>
              <a:rPr lang="fr-FR" sz="1400" dirty="0">
                <a:solidFill>
                  <a:srgbClr val="A0B4C8"/>
                </a:solidFill>
              </a:rPr>
              <a:t>       73 req</a:t>
            </a:r>
          </a:p>
          <a:p>
            <a:pPr algn="l">
              <a:spcBef>
                <a:spcPts val="400"/>
              </a:spcBef>
              <a:buNone/>
            </a:pPr>
            <a:r>
              <a:rPr lang="fr-FR" sz="1400" dirty="0">
                <a:solidFill>
                  <a:srgbClr val="E8ECF1"/>
                </a:solidFill>
              </a:rPr>
              <a:t>192.168.1.36</a:t>
            </a:r>
            <a:r>
              <a:rPr lang="fr-FR" sz="1400" dirty="0">
                <a:solidFill>
                  <a:srgbClr val="A0B4C8"/>
                </a:solidFill>
              </a:rPr>
              <a:t>       65 req</a:t>
            </a:r>
          </a:p>
        </p:txBody>
      </p:sp>
    </p:spTree>
    <p:extLst>
      <p:ext uri="{BB962C8B-B14F-4D97-AF65-F5344CB8AC3E}">
        <p14:creationId xmlns:p14="http://schemas.microsoft.com/office/powerpoint/2010/main" val="291455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855A12-DF49-7925-329F-75589C49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500"/>
            <a:ext cx="11277600" cy="571500"/>
          </a:xfrm>
        </p:spPr>
        <p:txBody>
          <a:bodyPr>
            <a:normAutofit/>
          </a:bodyPr>
          <a:lstStyle/>
          <a:p>
            <a:r>
              <a:rPr lang="fr-FR" sz="3200" b="1"/>
              <a:t>Détection de menaces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7E65F37-FA10-4BE6-B423-4AD8FC2B1743}"/>
              </a:ext>
            </a:extLst>
          </p:cNvPr>
          <p:cNvSpPr txBox="1"/>
          <p:nvPr/>
        </p:nvSpPr>
        <p:spPr>
          <a:xfrm>
            <a:off x="457200" y="7874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07890"/>
                </a:solidFill>
              </a:rPr>
              <a:t>16 alertes détectées — 4 types de menaces identifiés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DE96433-C942-417C-B7FA-BFD911C3A9A8}"/>
              </a:ext>
            </a:extLst>
          </p:cNvPr>
          <p:cNvSpPr/>
          <p:nvPr/>
        </p:nvSpPr>
        <p:spPr>
          <a:xfrm>
            <a:off x="457200" y="1270000"/>
            <a:ext cx="5334000" cy="22225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FFA50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9774B-B99E-4CD3-BA7E-DD150C04D6B0}"/>
              </a:ext>
            </a:extLst>
          </p:cNvPr>
          <p:cNvSpPr/>
          <p:nvPr/>
        </p:nvSpPr>
        <p:spPr>
          <a:xfrm>
            <a:off x="457200" y="1397000"/>
            <a:ext cx="63500" cy="1968500"/>
          </a:xfrm>
          <a:prstGeom prst="rect">
            <a:avLst/>
          </a:prstGeom>
          <a:solidFill>
            <a:srgbClr val="FFA50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0B1120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2F099FC-D587-4E9C-BAD8-35EE28B28853}"/>
              </a:ext>
            </a:extLst>
          </p:cNvPr>
          <p:cNvSpPr/>
          <p:nvPr/>
        </p:nvSpPr>
        <p:spPr>
          <a:xfrm>
            <a:off x="711200" y="1524000"/>
            <a:ext cx="711200" cy="711200"/>
          </a:xfrm>
          <a:prstGeom prst="ellipse">
            <a:avLst/>
          </a:prstGeom>
          <a:solidFill>
            <a:srgbClr val="FFA50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0B1120"/>
                </a:solidFill>
              </a:rPr>
              <a:t>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B824DD2-337A-4C72-8613-D31AEF3B6476}"/>
              </a:ext>
            </a:extLst>
          </p:cNvPr>
          <p:cNvSpPr txBox="1"/>
          <p:nvPr/>
        </p:nvSpPr>
        <p:spPr>
          <a:xfrm>
            <a:off x="1600200" y="1460500"/>
            <a:ext cx="3937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FFA502"/>
                </a:solidFill>
              </a:rPr>
              <a:t>BRUTE-FORCE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FA77B6F-99DF-4CC5-B8DE-7B2E4B2DB5F5}"/>
              </a:ext>
            </a:extLst>
          </p:cNvPr>
          <p:cNvSpPr txBox="1"/>
          <p:nvPr/>
        </p:nvSpPr>
        <p:spPr>
          <a:xfrm>
            <a:off x="1600200" y="18415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A0B4C8"/>
                </a:solidFill>
              </a:rPr>
              <a:t>2 alerte(s) détectée(s)</a:t>
            </a:r>
            <a:endParaRPr lang="fr-FR" sz="1400">
              <a:solidFill>
                <a:srgbClr val="A0B4C8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78398F-CC67-407B-A26C-69A04CF84DE6}"/>
              </a:ext>
            </a:extLst>
          </p:cNvPr>
          <p:cNvSpPr txBox="1"/>
          <p:nvPr/>
        </p:nvSpPr>
        <p:spPr>
          <a:xfrm>
            <a:off x="711200" y="2349500"/>
            <a:ext cx="482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07890"/>
                </a:solidFill>
              </a:rPr>
              <a:t>Tentatives de connexion
échouées (401/403)
en moins de 5 min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7CE5F67-0EF8-4D42-B58A-6C0832FEBF2A}"/>
              </a:ext>
            </a:extLst>
          </p:cNvPr>
          <p:cNvSpPr/>
          <p:nvPr/>
        </p:nvSpPr>
        <p:spPr>
          <a:xfrm>
            <a:off x="6146800" y="1270000"/>
            <a:ext cx="5334000" cy="22225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FF4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36907C-8956-43ED-9BE9-F067474BE833}"/>
              </a:ext>
            </a:extLst>
          </p:cNvPr>
          <p:cNvSpPr/>
          <p:nvPr/>
        </p:nvSpPr>
        <p:spPr>
          <a:xfrm>
            <a:off x="6146800" y="1397000"/>
            <a:ext cx="63500" cy="1968500"/>
          </a:xfrm>
          <a:prstGeom prst="rect">
            <a:avLst/>
          </a:prstGeom>
          <a:solidFill>
            <a:srgbClr val="FF4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0B1120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24D183E-EC46-4D07-8A22-C7151CDDA4BC}"/>
              </a:ext>
            </a:extLst>
          </p:cNvPr>
          <p:cNvSpPr/>
          <p:nvPr/>
        </p:nvSpPr>
        <p:spPr>
          <a:xfrm>
            <a:off x="6400800" y="1524000"/>
            <a:ext cx="711200" cy="711200"/>
          </a:xfrm>
          <a:prstGeom prst="ellipse">
            <a:avLst/>
          </a:prstGeom>
          <a:solidFill>
            <a:srgbClr val="FF4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0B1120"/>
                </a:solidFill>
              </a:rPr>
              <a:t>8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4CFDE82-4483-453B-87E6-639230FE2C90}"/>
              </a:ext>
            </a:extLst>
          </p:cNvPr>
          <p:cNvSpPr txBox="1"/>
          <p:nvPr/>
        </p:nvSpPr>
        <p:spPr>
          <a:xfrm>
            <a:off x="7289800" y="1460500"/>
            <a:ext cx="3937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FF4757"/>
                </a:solidFill>
              </a:rPr>
              <a:t>SQL-INJECTION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2147387-7EDE-4DF7-AE01-35CFAB6D32F3}"/>
              </a:ext>
            </a:extLst>
          </p:cNvPr>
          <p:cNvSpPr txBox="1"/>
          <p:nvPr/>
        </p:nvSpPr>
        <p:spPr>
          <a:xfrm>
            <a:off x="7289800" y="18415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A0B4C8"/>
                </a:solidFill>
              </a:rPr>
              <a:t>8 alerte(s) détectée(s)</a:t>
            </a:r>
            <a:endParaRPr lang="fr-FR" sz="1400">
              <a:solidFill>
                <a:srgbClr val="A0B4C8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9FC07D8-F972-44CE-B3EF-4551497DD9E4}"/>
              </a:ext>
            </a:extLst>
          </p:cNvPr>
          <p:cNvSpPr txBox="1"/>
          <p:nvPr/>
        </p:nvSpPr>
        <p:spPr>
          <a:xfrm>
            <a:off x="6400800" y="2349500"/>
            <a:ext cx="482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07890"/>
                </a:solidFill>
              </a:rPr>
              <a:t>Patterns SQL suspects
détectés dans les URLs
(UNION, DROP, OR 1=1)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B365ABB-88A9-4710-ACF8-B979F0D0FCD0}"/>
              </a:ext>
            </a:extLst>
          </p:cNvPr>
          <p:cNvSpPr/>
          <p:nvPr/>
        </p:nvSpPr>
        <p:spPr>
          <a:xfrm>
            <a:off x="457200" y="3746500"/>
            <a:ext cx="5334000" cy="22225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3742F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9A8A74-DCB8-476F-8593-E22EBBA82D98}"/>
              </a:ext>
            </a:extLst>
          </p:cNvPr>
          <p:cNvSpPr/>
          <p:nvPr/>
        </p:nvSpPr>
        <p:spPr>
          <a:xfrm>
            <a:off x="457200" y="3873500"/>
            <a:ext cx="63500" cy="1968500"/>
          </a:xfrm>
          <a:prstGeom prst="rect">
            <a:avLst/>
          </a:prstGeom>
          <a:solidFill>
            <a:srgbClr val="3742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FFFFFF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36D3D54-E393-47CD-9B2B-7EE5AEE64ABA}"/>
              </a:ext>
            </a:extLst>
          </p:cNvPr>
          <p:cNvSpPr/>
          <p:nvPr/>
        </p:nvSpPr>
        <p:spPr>
          <a:xfrm>
            <a:off x="711200" y="4000500"/>
            <a:ext cx="711200" cy="711200"/>
          </a:xfrm>
          <a:prstGeom prst="ellipse">
            <a:avLst/>
          </a:prstGeom>
          <a:solidFill>
            <a:srgbClr val="3742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6CD4C44-373F-48B2-858C-60106FE2AC5D}"/>
              </a:ext>
            </a:extLst>
          </p:cNvPr>
          <p:cNvSpPr txBox="1"/>
          <p:nvPr/>
        </p:nvSpPr>
        <p:spPr>
          <a:xfrm>
            <a:off x="1600200" y="3937000"/>
            <a:ext cx="3937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3742FA"/>
                </a:solidFill>
              </a:rPr>
              <a:t>DDoS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3A4445F-0ACB-4DF5-A763-EAEB9DF115F8}"/>
              </a:ext>
            </a:extLst>
          </p:cNvPr>
          <p:cNvSpPr txBox="1"/>
          <p:nvPr/>
        </p:nvSpPr>
        <p:spPr>
          <a:xfrm>
            <a:off x="1600200" y="43180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A0B4C8"/>
                </a:solidFill>
              </a:rPr>
              <a:t>2 alerte(s) détectée(s)</a:t>
            </a:r>
            <a:endParaRPr lang="fr-FR" sz="1400">
              <a:solidFill>
                <a:srgbClr val="A0B4C8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C74A6DE-87E7-481C-B518-A1B8F80AB679}"/>
              </a:ext>
            </a:extLst>
          </p:cNvPr>
          <p:cNvSpPr txBox="1"/>
          <p:nvPr/>
        </p:nvSpPr>
        <p:spPr>
          <a:xfrm>
            <a:off x="711200" y="4826000"/>
            <a:ext cx="482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07890"/>
                </a:solidFill>
              </a:rPr>
              <a:t>Volume anormal de
requêtes : jusqu'à
40,6 req/s vs 0,22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B3D1631-33BF-4D70-961E-CB2F1959E785}"/>
              </a:ext>
            </a:extLst>
          </p:cNvPr>
          <p:cNvSpPr/>
          <p:nvPr/>
        </p:nvSpPr>
        <p:spPr>
          <a:xfrm>
            <a:off x="6146800" y="3746500"/>
            <a:ext cx="5334000" cy="22225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A02B9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FC3888-BBE4-4929-B81F-B1B63B38A58B}"/>
              </a:ext>
            </a:extLst>
          </p:cNvPr>
          <p:cNvSpPr/>
          <p:nvPr/>
        </p:nvSpPr>
        <p:spPr>
          <a:xfrm>
            <a:off x="6146800" y="3873500"/>
            <a:ext cx="63500" cy="1968500"/>
          </a:xfrm>
          <a:prstGeom prst="rect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FFFFFF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8249F4E-1BB0-4B6A-B0A8-67C9A193BBA2}"/>
              </a:ext>
            </a:extLst>
          </p:cNvPr>
          <p:cNvSpPr/>
          <p:nvPr/>
        </p:nvSpPr>
        <p:spPr>
          <a:xfrm>
            <a:off x="6400800" y="4000500"/>
            <a:ext cx="711200" cy="711200"/>
          </a:xfrm>
          <a:prstGeom prst="ellipse">
            <a:avLst/>
          </a:prstGeom>
          <a:solidFill>
            <a:srgbClr val="A02B9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FA2884F-03CD-4EE5-98C8-70C40D928751}"/>
              </a:ext>
            </a:extLst>
          </p:cNvPr>
          <p:cNvSpPr txBox="1"/>
          <p:nvPr/>
        </p:nvSpPr>
        <p:spPr>
          <a:xfrm>
            <a:off x="7289800" y="3937000"/>
            <a:ext cx="3937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b="1">
                <a:solidFill>
                  <a:srgbClr val="A02B93"/>
                </a:solidFill>
              </a:rPr>
              <a:t>SCAN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0CDE6E0-9E8E-4F5D-A778-FE1AB367D28E}"/>
              </a:ext>
            </a:extLst>
          </p:cNvPr>
          <p:cNvSpPr txBox="1"/>
          <p:nvPr/>
        </p:nvSpPr>
        <p:spPr>
          <a:xfrm>
            <a:off x="7289800" y="4318000"/>
            <a:ext cx="393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A0B4C8"/>
                </a:solidFill>
              </a:rPr>
              <a:t>4 alerte(s) détectée(s)</a:t>
            </a:r>
            <a:endParaRPr lang="fr-FR" sz="1400">
              <a:solidFill>
                <a:srgbClr val="A0B4C8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994729F-E983-47B8-86BB-71CB533CB141}"/>
              </a:ext>
            </a:extLst>
          </p:cNvPr>
          <p:cNvSpPr txBox="1"/>
          <p:nvPr/>
        </p:nvSpPr>
        <p:spPr>
          <a:xfrm>
            <a:off x="6400800" y="4826000"/>
            <a:ext cx="482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07890"/>
                </a:solidFill>
              </a:rPr>
              <a:t>Outils détectés :
sqlmap, nikto
Chemins suspects</a:t>
            </a:r>
          </a:p>
        </p:txBody>
      </p:sp>
    </p:spTree>
    <p:extLst>
      <p:ext uri="{BB962C8B-B14F-4D97-AF65-F5344CB8AC3E}">
        <p14:creationId xmlns:p14="http://schemas.microsoft.com/office/powerpoint/2010/main" val="387556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B24ADE-3F07-0FD9-6AED-AA37FABC1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500"/>
            <a:ext cx="11277600" cy="571500"/>
          </a:xfrm>
        </p:spPr>
        <p:txBody>
          <a:bodyPr>
            <a:normAutofit/>
          </a:bodyPr>
          <a:lstStyle/>
          <a:p>
            <a:r>
              <a:rPr lang="fr-FR" sz="3200" b="1"/>
              <a:t>Alertes critiques détaillées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136BDF-5FBA-43F6-BDA7-62ACA4811711}"/>
              </a:ext>
            </a:extLst>
          </p:cNvPr>
          <p:cNvSpPr txBox="1"/>
          <p:nvPr/>
        </p:nvSpPr>
        <p:spPr>
          <a:xfrm>
            <a:off x="457200" y="952500"/>
            <a:ext cx="314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00D4AA"/>
                </a:solidFill>
              </a:rPr>
              <a:t>Répartition par sévérité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D1286B0-400A-448B-B4A8-4901E4EF5130}"/>
              </a:ext>
            </a:extLst>
          </p:cNvPr>
          <p:cNvSpPr/>
          <p:nvPr/>
        </p:nvSpPr>
        <p:spPr>
          <a:xfrm>
            <a:off x="457200" y="1524000"/>
            <a:ext cx="1460500" cy="431800"/>
          </a:xfrm>
          <a:prstGeom prst="roundRect">
            <a:avLst/>
          </a:prstGeom>
          <a:solidFill>
            <a:srgbClr val="FF4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B1120"/>
                </a:solidFill>
              </a:rPr>
              <a:t>CRITICAL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52679C-2D21-420A-BCF9-655F61E77151}"/>
              </a:ext>
            </a:extLst>
          </p:cNvPr>
          <p:cNvSpPr txBox="1"/>
          <p:nvPr/>
        </p:nvSpPr>
        <p:spPr>
          <a:xfrm>
            <a:off x="2032000" y="1524000"/>
            <a:ext cx="1270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E8ECF1"/>
                </a:solidFill>
              </a:rPr>
              <a:t>4 alertes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2EDC96B-5389-4E73-AE2D-E47850BD3527}"/>
              </a:ext>
            </a:extLst>
          </p:cNvPr>
          <p:cNvSpPr/>
          <p:nvPr/>
        </p:nvSpPr>
        <p:spPr>
          <a:xfrm>
            <a:off x="457200" y="2349500"/>
            <a:ext cx="1460500" cy="431800"/>
          </a:xfrm>
          <a:prstGeom prst="roundRect">
            <a:avLst/>
          </a:prstGeom>
          <a:solidFill>
            <a:srgbClr val="FFA50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B1120"/>
                </a:solidFill>
              </a:rPr>
              <a:t>HIGH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DE72DBB-69E0-4C30-87DF-DE57210F4C4C}"/>
              </a:ext>
            </a:extLst>
          </p:cNvPr>
          <p:cNvSpPr txBox="1"/>
          <p:nvPr/>
        </p:nvSpPr>
        <p:spPr>
          <a:xfrm>
            <a:off x="2032000" y="2349500"/>
            <a:ext cx="1270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E8ECF1"/>
                </a:solidFill>
              </a:rPr>
              <a:t>9 alertes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D1422E4-1119-441F-8C35-2EA5019B0553}"/>
              </a:ext>
            </a:extLst>
          </p:cNvPr>
          <p:cNvSpPr/>
          <p:nvPr/>
        </p:nvSpPr>
        <p:spPr>
          <a:xfrm>
            <a:off x="457200" y="3175000"/>
            <a:ext cx="1460500" cy="431800"/>
          </a:xfrm>
          <a:prstGeom prst="roundRect">
            <a:avLst/>
          </a:prstGeom>
          <a:solidFill>
            <a:srgbClr val="3742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BC5066D-54A9-493C-91EE-3BA6ED254C4C}"/>
              </a:ext>
            </a:extLst>
          </p:cNvPr>
          <p:cNvSpPr txBox="1"/>
          <p:nvPr/>
        </p:nvSpPr>
        <p:spPr>
          <a:xfrm>
            <a:off x="2032000" y="3175000"/>
            <a:ext cx="1270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600" b="1">
                <a:solidFill>
                  <a:srgbClr val="E8ECF1"/>
                </a:solidFill>
              </a:rPr>
              <a:t>3 alertes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A97DAA5-91E0-460D-97ED-4BF12015EA6E}"/>
              </a:ext>
            </a:extLst>
          </p:cNvPr>
          <p:cNvSpPr/>
          <p:nvPr/>
        </p:nvSpPr>
        <p:spPr>
          <a:xfrm>
            <a:off x="3683000" y="952500"/>
            <a:ext cx="8128000" cy="5588000"/>
          </a:xfrm>
          <a:prstGeom prst="roundRect">
            <a:avLst/>
          </a:prstGeom>
          <a:solidFill>
            <a:srgbClr val="131B2E"/>
          </a:solidFill>
          <a:ln w="12700" cap="flat" cmpd="sng" algn="ctr">
            <a:solidFill>
              <a:srgbClr val="1E2A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buNone/>
            </a:pPr>
            <a:r>
              <a:rPr lang="fr-FR" sz="1500" b="1" dirty="0">
                <a:solidFill>
                  <a:srgbClr val="E8ECF1"/>
                </a:solidFill>
              </a:rPr>
              <a:t>Alertes clés par IP source</a:t>
            </a:r>
          </a:p>
          <a:p>
            <a:pPr algn="l">
              <a:buNone/>
            </a:pPr>
            <a:r>
              <a:rPr lang="fr-FR" sz="1200" b="1" dirty="0">
                <a:solidFill>
                  <a:srgbClr val="E8ECF1"/>
                </a:solidFill>
              </a:rPr>
              <a:t>■ 203.0.113.50</a:t>
            </a:r>
            <a:r>
              <a:rPr lang="fr-FR" sz="1200" dirty="0">
                <a:solidFill>
                  <a:srgbClr val="E8ECF1"/>
                </a:solidFill>
              </a:rPr>
              <a:t> — 3 SQL injections CRITICAL + scan sqlmap</a:t>
            </a:r>
          </a:p>
          <a:p>
            <a:pPr algn="l">
              <a:buNone/>
            </a:pPr>
            <a:r>
              <a:rPr lang="fr-FR" sz="1100" i="1" dirty="0">
                <a:solidFill>
                  <a:srgbClr val="E8ECF1"/>
                </a:solidFill>
              </a:rPr>
              <a:t>  UNION SELECT, SLEEP(), CONVERT() — extraction de données</a:t>
            </a:r>
          </a:p>
          <a:p>
            <a:pPr algn="l">
              <a:buNone/>
            </a:pPr>
            <a:r>
              <a:rPr lang="fr-FR" sz="1200" b="1" dirty="0">
                <a:solidFill>
                  <a:srgbClr val="E8ECF1"/>
                </a:solidFill>
              </a:rPr>
              <a:t>■ 103.21.244.0 / MULTIPLE</a:t>
            </a:r>
            <a:r>
              <a:rPr lang="fr-FR" sz="1200" dirty="0">
                <a:solidFill>
                  <a:srgbClr val="E8ECF1"/>
                </a:solidFill>
              </a:rPr>
              <a:t> — DDoS (40,6 req/s) + distribué</a:t>
            </a:r>
          </a:p>
          <a:p>
            <a:pPr algn="l">
              <a:buNone/>
            </a:pPr>
            <a:r>
              <a:rPr lang="fr-FR" sz="1100" i="1" dirty="0">
                <a:solidFill>
                  <a:srgbClr val="E8ECF1"/>
                </a:solidFill>
              </a:rPr>
              <a:t>  Volume 184x supérieur à la moyenne (0,22 req/s)</a:t>
            </a:r>
          </a:p>
          <a:p>
            <a:pPr algn="l">
              <a:buNone/>
            </a:pPr>
            <a:r>
              <a:rPr lang="fr-FR" sz="1200" b="1" dirty="0">
                <a:solidFill>
                  <a:srgbClr val="E8ECF1"/>
                </a:solidFill>
              </a:rPr>
              <a:t>■ 198.51.100.23</a:t>
            </a:r>
            <a:r>
              <a:rPr lang="fr-FR" sz="1200" dirty="0">
                <a:solidFill>
                  <a:srgbClr val="E8ECF1"/>
                </a:solidFill>
              </a:rPr>
              <a:t> — 3 SQL injections HIGH</a:t>
            </a:r>
          </a:p>
          <a:p>
            <a:pPr algn="l">
              <a:buNone/>
            </a:pPr>
            <a:r>
              <a:rPr lang="fr-FR" sz="1100" i="1" dirty="0">
                <a:solidFill>
                  <a:srgbClr val="E8ECF1"/>
                </a:solidFill>
              </a:rPr>
              <a:t>  OR ''=', INSERT INTO users, CONVERT() exploit</a:t>
            </a:r>
          </a:p>
          <a:p>
            <a:pPr algn="l">
              <a:buNone/>
            </a:pPr>
            <a:r>
              <a:rPr lang="fr-FR" sz="1200" b="1" dirty="0">
                <a:solidFill>
                  <a:srgbClr val="E8ECF1"/>
                </a:solidFill>
              </a:rPr>
              <a:t>■ 45.33.32.156</a:t>
            </a:r>
            <a:r>
              <a:rPr lang="fr-FR" sz="1200" dirty="0">
                <a:solidFill>
                  <a:srgbClr val="E8ECF1"/>
                </a:solidFill>
              </a:rPr>
              <a:t> — Brute-force HIGH (54 tentatives)</a:t>
            </a:r>
          </a:p>
          <a:p>
            <a:pPr algn="l">
              <a:buNone/>
            </a:pPr>
            <a:r>
              <a:rPr lang="fr-FR" sz="1200" b="1" dirty="0">
                <a:solidFill>
                  <a:srgbClr val="E8ECF1"/>
                </a:solidFill>
              </a:rPr>
              <a:t>■ 77.72.82.22</a:t>
            </a:r>
            <a:r>
              <a:rPr lang="fr-FR" sz="1200" dirty="0">
                <a:solidFill>
                  <a:srgbClr val="E8ECF1"/>
                </a:solidFill>
              </a:rPr>
              <a:t> — Scan nikto + 36 URLs en 404</a:t>
            </a:r>
          </a:p>
          <a:p>
            <a:pPr algn="l">
              <a:buNone/>
            </a:pPr>
            <a:r>
              <a:rPr lang="fr-FR" sz="1200" b="1" dirty="0">
                <a:solidFill>
                  <a:srgbClr val="E8ECF1"/>
                </a:solidFill>
              </a:rPr>
              <a:t>■ 91.219.236.100</a:t>
            </a:r>
            <a:r>
              <a:rPr lang="fr-FR" sz="1200" dirty="0">
                <a:solidFill>
                  <a:srgbClr val="E8ECF1"/>
                </a:solidFill>
              </a:rPr>
              <a:t> — 2 SQL injections (UNION, DROP TABLE)</a:t>
            </a:r>
          </a:p>
        </p:txBody>
      </p:sp>
    </p:spTree>
    <p:extLst>
      <p:ext uri="{BB962C8B-B14F-4D97-AF65-F5344CB8AC3E}">
        <p14:creationId xmlns:p14="http://schemas.microsoft.com/office/powerpoint/2010/main" val="177663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370F95-D61E-441B-6615-2FD69B110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0500"/>
            <a:ext cx="11277600" cy="571500"/>
          </a:xfrm>
        </p:spPr>
        <p:txBody>
          <a:bodyPr>
            <a:normAutofit/>
          </a:bodyPr>
          <a:lstStyle/>
          <a:p>
            <a:r>
              <a:rPr lang="fr-FR" sz="3200" b="1"/>
              <a:t>Conclusions &amp; Recommandations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05248B1-7339-4420-A12A-A23F17D9C078}"/>
              </a:ext>
            </a:extLst>
          </p:cNvPr>
          <p:cNvSpPr/>
          <p:nvPr/>
        </p:nvSpPr>
        <p:spPr>
          <a:xfrm>
            <a:off x="457200" y="1016000"/>
            <a:ext cx="11277600" cy="15240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FF47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88848-4AED-4D06-A44B-4A20BAF6894B}"/>
              </a:ext>
            </a:extLst>
          </p:cNvPr>
          <p:cNvSpPr/>
          <p:nvPr/>
        </p:nvSpPr>
        <p:spPr>
          <a:xfrm>
            <a:off x="457200" y="1143000"/>
            <a:ext cx="63500" cy="1270000"/>
          </a:xfrm>
          <a:prstGeom prst="rect">
            <a:avLst/>
          </a:prstGeom>
          <a:solidFill>
            <a:srgbClr val="FF4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8F03B73-889E-4EE1-B2E6-1AF17EF8B9BB}"/>
              </a:ext>
            </a:extLst>
          </p:cNvPr>
          <p:cNvSpPr/>
          <p:nvPr/>
        </p:nvSpPr>
        <p:spPr>
          <a:xfrm>
            <a:off x="711200" y="1168400"/>
            <a:ext cx="1079500" cy="355600"/>
          </a:xfrm>
          <a:prstGeom prst="roundRect">
            <a:avLst/>
          </a:prstGeom>
          <a:solidFill>
            <a:srgbClr val="FF4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B1120"/>
                </a:solidFill>
              </a:rPr>
              <a:t>URGENT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91503C-8140-4D46-8C79-9897D3AA9D23}"/>
              </a:ext>
            </a:extLst>
          </p:cNvPr>
          <p:cNvSpPr txBox="1"/>
          <p:nvPr/>
        </p:nvSpPr>
        <p:spPr>
          <a:xfrm>
            <a:off x="1968500" y="1143000"/>
            <a:ext cx="952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E8ECF1"/>
                </a:solidFill>
              </a:rPr>
              <a:t>Blocage immédiat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903CB7B-E9A2-4A9A-92ED-75358E68A487}"/>
              </a:ext>
            </a:extLst>
          </p:cNvPr>
          <p:cNvSpPr txBox="1"/>
          <p:nvPr/>
        </p:nvSpPr>
        <p:spPr>
          <a:xfrm>
            <a:off x="711200" y="16256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A0B4C8"/>
                </a:solidFill>
              </a:rPr>
              <a:t>Bloquer les IPs 203.0.113.50, 198.51.100.23, 91.219.236.100 et 77.72.82.22 — sources d'injections SQL et scans actifs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9F736D6-6279-481A-B5B0-051D597B49BE}"/>
              </a:ext>
            </a:extLst>
          </p:cNvPr>
          <p:cNvSpPr/>
          <p:nvPr/>
        </p:nvSpPr>
        <p:spPr>
          <a:xfrm>
            <a:off x="457200" y="2768600"/>
            <a:ext cx="11277600" cy="15240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FFA50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D3E728-A994-457E-ADB5-8A17FFE1150C}"/>
              </a:ext>
            </a:extLst>
          </p:cNvPr>
          <p:cNvSpPr/>
          <p:nvPr/>
        </p:nvSpPr>
        <p:spPr>
          <a:xfrm>
            <a:off x="457200" y="2895600"/>
            <a:ext cx="63500" cy="1270000"/>
          </a:xfrm>
          <a:prstGeom prst="rect">
            <a:avLst/>
          </a:prstGeom>
          <a:solidFill>
            <a:srgbClr val="FFA50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D3553FC-F94C-4882-88C4-00E64729006C}"/>
              </a:ext>
            </a:extLst>
          </p:cNvPr>
          <p:cNvSpPr/>
          <p:nvPr/>
        </p:nvSpPr>
        <p:spPr>
          <a:xfrm>
            <a:off x="711200" y="2921000"/>
            <a:ext cx="1079500" cy="355600"/>
          </a:xfrm>
          <a:prstGeom prst="roundRect">
            <a:avLst/>
          </a:prstGeom>
          <a:solidFill>
            <a:srgbClr val="FFA50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B1120"/>
                </a:solidFill>
              </a:rPr>
              <a:t>HIGH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21E70DA-C504-40BD-A57C-7B500E05D8FD}"/>
              </a:ext>
            </a:extLst>
          </p:cNvPr>
          <p:cNvSpPr txBox="1"/>
          <p:nvPr/>
        </p:nvSpPr>
        <p:spPr>
          <a:xfrm>
            <a:off x="1968500" y="2895600"/>
            <a:ext cx="952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E8ECF1"/>
                </a:solidFill>
              </a:rPr>
              <a:t>Protection anti-DDoS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0D6982-D76B-47B5-A6BD-F10C7B6CEB3A}"/>
              </a:ext>
            </a:extLst>
          </p:cNvPr>
          <p:cNvSpPr txBox="1"/>
          <p:nvPr/>
        </p:nvSpPr>
        <p:spPr>
          <a:xfrm>
            <a:off x="711200" y="33782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A0B4C8"/>
                </a:solidFill>
              </a:rPr>
              <a:t>Implémenter un rate-limiting (&lt; 10 req/s par IP) et un WAF pour filtrer le trafic anormal de 103.21.244.0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0C524B2-712F-4857-9137-3570F867F2B8}"/>
              </a:ext>
            </a:extLst>
          </p:cNvPr>
          <p:cNvSpPr/>
          <p:nvPr/>
        </p:nvSpPr>
        <p:spPr>
          <a:xfrm>
            <a:off x="457200" y="4521200"/>
            <a:ext cx="11277600" cy="1524000"/>
          </a:xfrm>
          <a:prstGeom prst="roundRect">
            <a:avLst/>
          </a:prstGeom>
          <a:solidFill>
            <a:srgbClr val="131B2E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>
              <a:solidFill>
                <a:srgbClr val="E8ECF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0555DD-5180-42B3-867A-EBB482AE8A69}"/>
              </a:ext>
            </a:extLst>
          </p:cNvPr>
          <p:cNvSpPr/>
          <p:nvPr/>
        </p:nvSpPr>
        <p:spPr>
          <a:xfrm>
            <a:off x="457200" y="4648200"/>
            <a:ext cx="63500" cy="12700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BFC0FFA-E405-472F-9320-B8DB56EC6F27}"/>
              </a:ext>
            </a:extLst>
          </p:cNvPr>
          <p:cNvSpPr/>
          <p:nvPr/>
        </p:nvSpPr>
        <p:spPr>
          <a:xfrm>
            <a:off x="711200" y="4673600"/>
            <a:ext cx="1079500" cy="355600"/>
          </a:xfrm>
          <a:prstGeom prst="round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0B1120"/>
                </a:solidFill>
              </a:rPr>
              <a:t>MOYEN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9B34EFF-4AD2-458D-9230-96D4CCA869E0}"/>
              </a:ext>
            </a:extLst>
          </p:cNvPr>
          <p:cNvSpPr txBox="1"/>
          <p:nvPr/>
        </p:nvSpPr>
        <p:spPr>
          <a:xfrm>
            <a:off x="1968500" y="4648200"/>
            <a:ext cx="952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2000" b="1">
                <a:solidFill>
                  <a:srgbClr val="E8ECF1"/>
                </a:solidFill>
              </a:rPr>
              <a:t>Renforcement applicatif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A193A1-3FB1-4AB8-AD7E-B38B0A1AFB8D}"/>
              </a:ext>
            </a:extLst>
          </p:cNvPr>
          <p:cNvSpPr txBox="1"/>
          <p:nvPr/>
        </p:nvSpPr>
        <p:spPr>
          <a:xfrm>
            <a:off x="711200" y="51308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A0B4C8"/>
                </a:solidFill>
              </a:rPr>
              <a:t>Paramétrer les requêtes SQL, valider les entrées utilisateur, durcir les endpoints /login et /api/users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90E2ADB-DFCE-4CB1-BD4D-C87427131AD2}"/>
              </a:ext>
            </a:extLst>
          </p:cNvPr>
          <p:cNvSpPr txBox="1"/>
          <p:nvPr/>
        </p:nvSpPr>
        <p:spPr>
          <a:xfrm>
            <a:off x="457200" y="6350000"/>
            <a:ext cx="112776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>
                <a:solidFill>
                  <a:srgbClr val="607890"/>
                </a:solidFill>
              </a:rPr>
              <a:t>Fichier analysé : access_log_attack.txt  |  11 194 requêtes  |  16 alertes  |  6 IPs malveillantes identifiées</a:t>
            </a:r>
          </a:p>
        </p:txBody>
      </p:sp>
    </p:spTree>
    <p:extLst>
      <p:ext uri="{BB962C8B-B14F-4D97-AF65-F5344CB8AC3E}">
        <p14:creationId xmlns:p14="http://schemas.microsoft.com/office/powerpoint/2010/main" val="36889865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75811088635]">
  <a:themeElements>
    <a:clrScheme name="Office">
      <a:dk1>
        <a:srgbClr val="E8ECF1"/>
      </a:dk1>
      <a:lt1>
        <a:srgbClr val="0B1120"/>
      </a:lt1>
      <a:dk2>
        <a:srgbClr val="A0B4C8"/>
      </a:dk2>
      <a:lt2>
        <a:srgbClr val="131B2E"/>
      </a:lt2>
      <a:accent1>
        <a:srgbClr val="00D4AA"/>
      </a:accent1>
      <a:accent2>
        <a:srgbClr val="FF4757"/>
      </a:accent2>
      <a:accent3>
        <a:srgbClr val="FFA502"/>
      </a:accent3>
      <a:accent4>
        <a:srgbClr val="3742FA"/>
      </a:accent4>
      <a:accent5>
        <a:srgbClr val="2ED573"/>
      </a:accent5>
      <a:accent6>
        <a:srgbClr val="70A1FF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41E442-72E9-45A3-8DB1-D7FB33C8FBC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801c8f3-7d69-49c6-9a6a-1721323f7ee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d4e0b8-b4d5-463a-82ab-ceea7df4da0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2D655A95EFF941AA25A7C1D03F3218" ma:contentTypeVersion="9" ma:contentTypeDescription="Crée un document." ma:contentTypeScope="" ma:versionID="c66f3278cd56fdaca1df52b3794cf67d">
  <xsd:schema xmlns:xsd="http://www.w3.org/2001/XMLSchema" xmlns:xs="http://www.w3.org/2001/XMLSchema" xmlns:p="http://schemas.microsoft.com/office/2006/metadata/properties" xmlns:ns3="1dd4e0b8-b4d5-463a-82ab-ceea7df4da00" targetNamespace="http://schemas.microsoft.com/office/2006/metadata/properties" ma:root="true" ma:fieldsID="01f77bec6cc6b7a5dcc3ab4902cb5c9c" ns3:_="">
    <xsd:import namespace="1dd4e0b8-b4d5-463a-82ab-ceea7df4da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d4e0b8-b4d5-463a-82ab-ceea7df4da0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C72CB6-A109-42A9-84A9-9A66A48CB0B1}">
  <ds:schemaRefs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dd4e0b8-b4d5-463a-82ab-ceea7df4da0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91F91B1-940D-4CE1-9C9B-BFCA09F04C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d4e0b8-b4d5-463a-82ab-ceea7df4da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577C31-3744-4584-98DC-BE736172C9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388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Consolas</vt:lpstr>
      <vt:lpstr>Segoe UI</vt:lpstr>
      <vt:lpstr>Thème Office [1775811088635]</vt:lpstr>
      <vt:lpstr>NETSENTINEL v1.0</vt:lpstr>
      <vt:lpstr>Dashboard Statistiques</vt:lpstr>
      <vt:lpstr>Détection de menaces</vt:lpstr>
      <vt:lpstr>Alertes critiques détaillées</vt:lpstr>
      <vt:lpstr>Conclusions &amp; Recommandations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THUILLIEZ Raphael</dc:creator>
  <cp:lastModifiedBy>DIBON LANDRIEU Viktor</cp:lastModifiedBy>
  <cp:revision>3</cp:revision>
  <dcterms:created xsi:type="dcterms:W3CDTF">2026-04-10T08:49:06Z</dcterms:created>
  <dcterms:modified xsi:type="dcterms:W3CDTF">2026-04-15T00:33:04Z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0x010100352D655A95EFF941AA25A7C1D03F3218</vt:lpwstr>
  </property>
</Properties>
</file>